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j7ZffddA9mGrBSjbQQsRGuCj/B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12"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speaker notes required for this slide.]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 your speaker notes, include an explanation of the different requirements you determined for DriverPass’s system. What are the functional requirements you selected to describe? What are the nonfunctional requirements you selected to describe? Be sure to explain how these requirements meet DriverPass’s needs.]</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your diagram. Who are the different actors in the system? What are the different use cases? How did you account for DriverPass’s needs in your design? In your explanation, keep your audience in mind. Avoid the use of terms like “actors” and “use cases” in your explanation.]</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[Explain your diagram. Which use case are you breaking down? What are the steps for this use case? How did you account for DriverPass’s needs in your design? In your explanation, keep your audience in mind. Avoid the use of technical terms such as “nodes,” “control flows,” and so on.]</a:t>
            </a:r>
            <a:endParaRPr/>
          </a:p>
          <a:p>
            <a:pPr indent="0" lvl="0" marL="0" rtl="0" algn="l">
              <a:spcBef>
                <a:spcPts val="0"/>
              </a:spcBef>
              <a:spcAft>
                <a:spcPts val="0"/>
              </a:spcAft>
              <a:buNone/>
            </a:pPr>
            <a:r>
              <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[How did you consider security in your design? In your explanation, keep your audience in mind by avoiding the use of technical terms.]</a:t>
            </a:r>
            <a:endParaRPr/>
          </a:p>
        </p:txBody>
      </p:sp>
      <p:sp>
        <p:nvSpPr>
          <p:cNvPr id="126" name="Google Shape;12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[What are the limitations of your design? In your explanation, keep your audience in mind by avoiding the use of technical terms.]</a:t>
            </a:r>
            <a:endParaRPr/>
          </a:p>
        </p:txBody>
      </p:sp>
      <p:sp>
        <p:nvSpPr>
          <p:cNvPr id="136" name="Google Shape;13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a2551c8cf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ca2551c8cf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[What are the limitations of your design? In your explanation, keep your audience in mind by avoiding the use of technical terms.]</a:t>
            </a:r>
            <a:endParaRPr/>
          </a:p>
        </p:txBody>
      </p:sp>
      <p:sp>
        <p:nvSpPr>
          <p:cNvPr id="146" name="Google Shape;146;g3ca2551c8cf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p:nvPr>
            <p:ph idx="2" type="pic"/>
          </p:nvPr>
        </p:nvSpPr>
        <p:spPr>
          <a:xfrm>
            <a:off x="5183188" y="987425"/>
            <a:ext cx="6172200" cy="4873625"/>
          </a:xfrm>
          <a:prstGeom prst="rect">
            <a:avLst/>
          </a:prstGeom>
          <a:noFill/>
          <a:ln>
            <a:noFill/>
          </a:ln>
        </p:spPr>
      </p:sp>
      <p:sp>
        <p:nvSpPr>
          <p:cNvPr id="68" name="Google Shape;68;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rPr>
              <a:t>Nathan Vanderpool</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2"/>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2"/>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2"/>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Requirements</a:t>
            </a:r>
            <a:endParaRPr/>
          </a:p>
        </p:txBody>
      </p:sp>
      <p:sp>
        <p:nvSpPr>
          <p:cNvPr id="102" name="Google Shape;102;p2"/>
          <p:cNvSpPr txBox="1"/>
          <p:nvPr>
            <p:ph idx="1" type="body"/>
          </p:nvPr>
        </p:nvSpPr>
        <p:spPr>
          <a:xfrm>
            <a:off x="5953875" y="507025"/>
            <a:ext cx="5995200" cy="58737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300">
                <a:latin typeface="Arial"/>
                <a:ea typeface="Arial"/>
                <a:cs typeface="Arial"/>
                <a:sym typeface="Arial"/>
              </a:rPr>
              <a:t>Functional Requirements</a:t>
            </a:r>
            <a:endParaRPr b="1" sz="1300">
              <a:latin typeface="Arial"/>
              <a:ea typeface="Arial"/>
              <a:cs typeface="Arial"/>
              <a:sym typeface="Arial"/>
            </a:endParaRPr>
          </a:p>
          <a:p>
            <a:pPr indent="-311150" lvl="0" marL="457200" rtl="0" algn="l">
              <a:lnSpc>
                <a:spcPct val="115000"/>
              </a:lnSpc>
              <a:spcBef>
                <a:spcPts val="0"/>
              </a:spcBef>
              <a:spcAft>
                <a:spcPts val="0"/>
              </a:spcAft>
              <a:buSzPts val="1300"/>
              <a:buAutoNum type="arabicPeriod"/>
            </a:pPr>
            <a:r>
              <a:rPr b="1" lang="en-US" sz="1300">
                <a:latin typeface="Arial"/>
                <a:ea typeface="Arial"/>
                <a:cs typeface="Arial"/>
                <a:sym typeface="Arial"/>
              </a:rPr>
              <a:t>User Authentication and Registration</a:t>
            </a:r>
            <a:r>
              <a:rPr lang="en-US" sz="1300">
                <a:latin typeface="Arial"/>
                <a:ea typeface="Arial"/>
                <a:cs typeface="Arial"/>
                <a:sym typeface="Arial"/>
              </a:rPr>
              <a:t>: The system must allow students/customers to create accounts by providing personal information (e.g., username, password, address, credit card details) and authenticate via login, with options for password reset via email, as depicted in the activity diagram for account creation and login flows.</a:t>
            </a:r>
            <a:endParaRPr sz="1300">
              <a:latin typeface="Arial"/>
              <a:ea typeface="Arial"/>
              <a:cs typeface="Arial"/>
              <a:sym typeface="Arial"/>
            </a:endParaRPr>
          </a:p>
          <a:p>
            <a:pPr indent="-311150" lvl="0" marL="457200" rtl="0" algn="l">
              <a:lnSpc>
                <a:spcPct val="115000"/>
              </a:lnSpc>
              <a:spcBef>
                <a:spcPts val="0"/>
              </a:spcBef>
              <a:spcAft>
                <a:spcPts val="0"/>
              </a:spcAft>
              <a:buSzPts val="1300"/>
              <a:buAutoNum type="arabicPeriod"/>
            </a:pPr>
            <a:r>
              <a:rPr b="1" lang="en-US" sz="1300">
                <a:latin typeface="Arial"/>
                <a:ea typeface="Arial"/>
                <a:cs typeface="Arial"/>
                <a:sym typeface="Arial"/>
              </a:rPr>
              <a:t>Package Selection and Payment Processing</a:t>
            </a:r>
            <a:r>
              <a:rPr lang="en-US" sz="1300">
                <a:latin typeface="Arial"/>
                <a:ea typeface="Arial"/>
                <a:cs typeface="Arial"/>
                <a:sym typeface="Arial"/>
              </a:rPr>
              <a:t>: The system must enable users to select driving packages (e.g., package1, package2, package3), add credit card information, and process payments with approval/decline logic, integrating with a payment gateway to generate receipts and handle errors, aligning with the sequence diagram's transaction flow and class operations like selectPackage and callPayment.</a:t>
            </a:r>
            <a:endParaRPr sz="1300">
              <a:latin typeface="Arial"/>
              <a:ea typeface="Arial"/>
              <a:cs typeface="Arial"/>
              <a:sym typeface="Arial"/>
            </a:endParaRPr>
          </a:p>
          <a:p>
            <a:pPr indent="0" lvl="0" marL="0" rtl="0" algn="l">
              <a:lnSpc>
                <a:spcPct val="115000"/>
              </a:lnSpc>
              <a:spcBef>
                <a:spcPts val="0"/>
              </a:spcBef>
              <a:spcAft>
                <a:spcPts val="0"/>
              </a:spcAft>
              <a:buNone/>
            </a:pPr>
            <a:r>
              <a:t/>
            </a:r>
            <a:endParaRPr sz="13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b="1" lang="en-US" sz="1300">
                <a:latin typeface="Arial"/>
                <a:ea typeface="Arial"/>
                <a:cs typeface="Arial"/>
                <a:sym typeface="Arial"/>
              </a:rPr>
              <a:t>Nonfunctional Requirements</a:t>
            </a:r>
            <a:endParaRPr b="1" sz="1300">
              <a:latin typeface="Arial"/>
              <a:ea typeface="Arial"/>
              <a:cs typeface="Arial"/>
              <a:sym typeface="Arial"/>
            </a:endParaRPr>
          </a:p>
          <a:p>
            <a:pPr indent="-311150" lvl="0" marL="457200" rtl="0" algn="l">
              <a:lnSpc>
                <a:spcPct val="115000"/>
              </a:lnSpc>
              <a:spcBef>
                <a:spcPts val="0"/>
              </a:spcBef>
              <a:spcAft>
                <a:spcPts val="0"/>
              </a:spcAft>
              <a:buSzPts val="1300"/>
              <a:buAutoNum type="arabicPeriod"/>
            </a:pPr>
            <a:r>
              <a:rPr b="1" lang="en-US" sz="1300">
                <a:latin typeface="Arial"/>
                <a:ea typeface="Arial"/>
                <a:cs typeface="Arial"/>
                <a:sym typeface="Arial"/>
              </a:rPr>
              <a:t>Security</a:t>
            </a:r>
            <a:r>
              <a:rPr lang="en-US" sz="1300">
                <a:latin typeface="Arial"/>
                <a:ea typeface="Arial"/>
                <a:cs typeface="Arial"/>
                <a:sym typeface="Arial"/>
              </a:rPr>
              <a:t>: The system must implement encryption for sensitive data (e.g., passwords hashed, credit card details tokenized) and role-based access control to restrict actions, such as only administrators running reports or managing packages, ensuring compliance with standards like PCI DSS for payment handling.</a:t>
            </a:r>
            <a:endParaRPr sz="1300">
              <a:latin typeface="Arial"/>
              <a:ea typeface="Arial"/>
              <a:cs typeface="Arial"/>
              <a:sym typeface="Arial"/>
            </a:endParaRPr>
          </a:p>
          <a:p>
            <a:pPr indent="-311150" lvl="0" marL="457200" rtl="0" algn="l">
              <a:lnSpc>
                <a:spcPct val="115000"/>
              </a:lnSpc>
              <a:spcBef>
                <a:spcPts val="0"/>
              </a:spcBef>
              <a:spcAft>
                <a:spcPts val="0"/>
              </a:spcAft>
              <a:buSzPts val="1300"/>
              <a:buAutoNum type="arabicPeriod"/>
            </a:pPr>
            <a:r>
              <a:rPr b="1" lang="en-US" sz="1300">
                <a:latin typeface="Arial"/>
                <a:ea typeface="Arial"/>
                <a:cs typeface="Arial"/>
                <a:sym typeface="Arial"/>
              </a:rPr>
              <a:t>Performance</a:t>
            </a:r>
            <a:r>
              <a:rPr lang="en-US" sz="1300">
                <a:latin typeface="Arial"/>
                <a:ea typeface="Arial"/>
                <a:cs typeface="Arial"/>
                <a:sym typeface="Arial"/>
              </a:rPr>
              <a:t>: The system must handle concurrent access by multiple users (e.g., students scheduling lessons simultaneously) with average response times under 3 seconds for key operations like login, reservation, and report generation, supporting scalability for up to 500 users during peak periods.</a:t>
            </a:r>
            <a:endParaRPr sz="13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3"/>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3"/>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3"/>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pic>
        <p:nvPicPr>
          <p:cNvPr id="112" name="Google Shape;112;p3"/>
          <p:cNvPicPr preferRelativeResize="0"/>
          <p:nvPr/>
        </p:nvPicPr>
        <p:blipFill rotWithShape="1">
          <a:blip r:embed="rId4">
            <a:alphaModFix/>
          </a:blip>
          <a:srcRect b="9970" l="0" r="0" t="11524"/>
          <a:stretch/>
        </p:blipFill>
        <p:spPr>
          <a:xfrm>
            <a:off x="5909100" y="1771463"/>
            <a:ext cx="6082100" cy="331507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 name="Shape 117"/>
        <p:cNvGrpSpPr/>
        <p:nvPr/>
      </p:nvGrpSpPr>
      <p:grpSpPr>
        <a:xfrm>
          <a:off x="0" y="0"/>
          <a:ext cx="0" cy="0"/>
          <a:chOff x="0" y="0"/>
          <a:chExt cx="0" cy="0"/>
        </a:xfrm>
      </p:grpSpPr>
      <p:sp>
        <p:nvSpPr>
          <p:cNvPr id="118" name="Google Shape;118;p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0" name="Google Shape;120;p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 name="Google Shape;121;p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Activity</a:t>
            </a:r>
            <a:br>
              <a:rPr lang="en-US">
                <a:solidFill>
                  <a:schemeClr val="lt1"/>
                </a:solidFill>
              </a:rPr>
            </a:br>
            <a:r>
              <a:rPr lang="en-US">
                <a:solidFill>
                  <a:schemeClr val="lt1"/>
                </a:solidFill>
              </a:rPr>
              <a:t>Diagram</a:t>
            </a:r>
            <a:endParaRPr>
              <a:solidFill>
                <a:schemeClr val="lt1"/>
              </a:solidFill>
            </a:endParaRPr>
          </a:p>
        </p:txBody>
      </p:sp>
      <p:pic>
        <p:nvPicPr>
          <p:cNvPr id="122" name="Google Shape;122;p4"/>
          <p:cNvPicPr preferRelativeResize="0"/>
          <p:nvPr/>
        </p:nvPicPr>
        <p:blipFill rotWithShape="1">
          <a:blip r:embed="rId4">
            <a:alphaModFix/>
          </a:blip>
          <a:srcRect b="2750" l="0" r="0" t="2390"/>
          <a:stretch/>
        </p:blipFill>
        <p:spPr>
          <a:xfrm>
            <a:off x="7289725" y="388138"/>
            <a:ext cx="3669175" cy="609112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 name="Shape 127"/>
        <p:cNvGrpSpPr/>
        <p:nvPr/>
      </p:nvGrpSpPr>
      <p:grpSpPr>
        <a:xfrm>
          <a:off x="0" y="0"/>
          <a:ext cx="0" cy="0"/>
          <a:chOff x="0" y="0"/>
          <a:chExt cx="0" cy="0"/>
        </a:xfrm>
      </p:grpSpPr>
      <p:sp>
        <p:nvSpPr>
          <p:cNvPr id="128" name="Google Shape;128;p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9" name="Google Shape;129;p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0" name="Google Shape;130;p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 name="Google Shape;131;p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2" name="Google Shape;132;p5"/>
          <p:cNvSpPr txBox="1"/>
          <p:nvPr>
            <p:ph idx="1" type="body"/>
          </p:nvPr>
        </p:nvSpPr>
        <p:spPr>
          <a:xfrm>
            <a:off x="5882200" y="319825"/>
            <a:ext cx="6082200" cy="6294900"/>
          </a:xfrm>
          <a:prstGeom prst="rect">
            <a:avLst/>
          </a:prstGeom>
          <a:noFill/>
          <a:ln>
            <a:noFill/>
          </a:ln>
        </p:spPr>
        <p:txBody>
          <a:bodyPr anchorCtr="0" anchor="ctr" bIns="45700" lIns="91425" spcFirstLastPara="1" rIns="91425" wrap="square" tIns="45700">
            <a:noAutofit/>
          </a:bodyPr>
          <a:lstStyle/>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Authentication and Access Control</a:t>
            </a:r>
            <a:r>
              <a:rPr lang="en-US" sz="1200">
                <a:latin typeface="Arial"/>
                <a:ea typeface="Arial"/>
                <a:cs typeface="Arial"/>
                <a:sym typeface="Arial"/>
              </a:rPr>
              <a:t>: The design incorporates secure login mechanisms as shown in the Activity Diagram, with username/password verification and email-based password resets. Role-based access control (RBAC) is enforced via the Use Case and Class Diagrams, limiting actions such as report generation to Administrators and system updates to Tech Support, preventing unauthorized access.</a:t>
            </a:r>
            <a:endParaRPr sz="1200">
              <a:latin typeface="Arial"/>
              <a:ea typeface="Arial"/>
              <a:cs typeface="Arial"/>
              <a:sym typeface="Arial"/>
            </a:endParaRPr>
          </a:p>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Data Encryption</a:t>
            </a:r>
            <a:r>
              <a:rPr lang="en-US" sz="1200">
                <a:latin typeface="Arial"/>
                <a:ea typeface="Arial"/>
                <a:cs typeface="Arial"/>
                <a:sym typeface="Arial"/>
              </a:rPr>
              <a:t>: Sensitive information like user passwords, credit card details (userCreditCard in Class Diagram), and personal addresses (userAddress) is encrypted at rest in the database and in transit using HTTPS/SSL, protecting against interception during registration, login, and payment processes.</a:t>
            </a:r>
            <a:endParaRPr sz="1200">
              <a:latin typeface="Arial"/>
              <a:ea typeface="Arial"/>
              <a:cs typeface="Arial"/>
              <a:sym typeface="Arial"/>
            </a:endParaRPr>
          </a:p>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Payment Security</a:t>
            </a:r>
            <a:r>
              <a:rPr lang="en-US" sz="1200">
                <a:latin typeface="Arial"/>
                <a:ea typeface="Arial"/>
                <a:cs typeface="Arial"/>
                <a:sym typeface="Arial"/>
              </a:rPr>
              <a:t>: The Sequence Diagram's transaction flow (analogous to ATM) includes approval/decline logic with error handling for invalid cards or insufficient funds. Integration with PCI DSS-compliant payment gateways ensures secure handling of card information, tokenization, and compliance to prevent fraud during package purchasing.</a:t>
            </a:r>
            <a:endParaRPr sz="1200">
              <a:latin typeface="Arial"/>
              <a:ea typeface="Arial"/>
              <a:cs typeface="Arial"/>
              <a:sym typeface="Arial"/>
            </a:endParaRPr>
          </a:p>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Input Validation and Error Handling</a:t>
            </a:r>
            <a:r>
              <a:rPr lang="en-US" sz="1200">
                <a:latin typeface="Arial"/>
                <a:ea typeface="Arial"/>
                <a:cs typeface="Arial"/>
                <a:sym typeface="Arial"/>
              </a:rPr>
              <a:t>: Activity Diagrams show validation steps for user inputs (e.g., during registration and payment), including checks for correct credentials and card info, with error messages and redirects to mitigate injection attacks, invalid data, or brute-force attempts.</a:t>
            </a:r>
            <a:endParaRPr sz="1200">
              <a:latin typeface="Arial"/>
              <a:ea typeface="Arial"/>
              <a:cs typeface="Arial"/>
              <a:sym typeface="Arial"/>
            </a:endParaRPr>
          </a:p>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Audit and Monitoring</a:t>
            </a:r>
            <a:r>
              <a:rPr lang="en-US" sz="1200">
                <a:latin typeface="Arial"/>
                <a:ea typeface="Arial"/>
                <a:cs typeface="Arial"/>
                <a:sym typeface="Arial"/>
              </a:rPr>
              <a:t>: Administrators can run reports (e.g., monthly reports, invoices) as per the Class Diagram, enabling logging of user actions, reservations, and payments for auditing. This supports detection of anomalies, with Tech Support handling system updates to address vulnerabilities promptly.</a:t>
            </a:r>
            <a:endParaRPr sz="1200">
              <a:latin typeface="Arial"/>
              <a:ea typeface="Arial"/>
              <a:cs typeface="Arial"/>
              <a:sym typeface="Arial"/>
            </a:endParaRPr>
          </a:p>
          <a:p>
            <a:pPr indent="-273050" lvl="0" marL="228600" rtl="0" algn="l">
              <a:lnSpc>
                <a:spcPct val="100000"/>
              </a:lnSpc>
              <a:spcBef>
                <a:spcPts val="0"/>
              </a:spcBef>
              <a:spcAft>
                <a:spcPts val="0"/>
              </a:spcAft>
              <a:buClr>
                <a:srgbClr val="000000"/>
              </a:buClr>
              <a:buSzPts val="2500"/>
              <a:buChar char="•"/>
            </a:pPr>
            <a:r>
              <a:rPr b="1" lang="en-US" sz="1200">
                <a:latin typeface="Arial"/>
                <a:ea typeface="Arial"/>
                <a:cs typeface="Arial"/>
                <a:sym typeface="Arial"/>
              </a:rPr>
              <a:t>Session Management</a:t>
            </a:r>
            <a:r>
              <a:rPr lang="en-US" sz="1200">
                <a:latin typeface="Arial"/>
                <a:ea typeface="Arial"/>
                <a:cs typeface="Arial"/>
                <a:sym typeface="Arial"/>
              </a:rPr>
              <a:t>: Post-login sessions are managed securely, with automatic logouts implied in flows, and limits on failed attempts (e.g., similar to the Sequence Diagram's PIN retry limit) to prevent unauthorized access after multiple failed logins.</a:t>
            </a:r>
            <a:endParaRPr sz="25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p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6"/>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0" name="Google Shape;140;p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 name="Google Shape;141;p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2" name="Google Shape;142;p6"/>
          <p:cNvSpPr txBox="1"/>
          <p:nvPr>
            <p:ph idx="1" type="body"/>
          </p:nvPr>
        </p:nvSpPr>
        <p:spPr>
          <a:xfrm>
            <a:off x="5861400" y="319825"/>
            <a:ext cx="6082200" cy="6248100"/>
          </a:xfrm>
          <a:prstGeom prst="rect">
            <a:avLst/>
          </a:prstGeom>
          <a:noFill/>
          <a:ln>
            <a:noFill/>
          </a:ln>
        </p:spPr>
        <p:txBody>
          <a:bodyPr anchorCtr="0" anchor="ctr" bIns="45700" lIns="91425" spcFirstLastPara="1" rIns="91425" wrap="square" tIns="45700">
            <a:noAutofit/>
          </a:bodyPr>
          <a:lstStyle/>
          <a:p>
            <a:pPr indent="-279400" lvl="0" marL="228600" rtl="0" algn="l">
              <a:lnSpc>
                <a:spcPct val="100000"/>
              </a:lnSpc>
              <a:spcBef>
                <a:spcPts val="0"/>
              </a:spcBef>
              <a:spcAft>
                <a:spcPts val="0"/>
              </a:spcAft>
              <a:buClr>
                <a:srgbClr val="000000"/>
              </a:buClr>
              <a:buSzPts val="2600"/>
              <a:buChar char="•"/>
            </a:pPr>
            <a:r>
              <a:rPr b="1" lang="en-US" sz="1300">
                <a:latin typeface="Arial"/>
                <a:ea typeface="Arial"/>
                <a:cs typeface="Arial"/>
                <a:sym typeface="Arial"/>
              </a:rPr>
              <a:t>Limited Scope of Features</a:t>
            </a:r>
            <a:r>
              <a:rPr lang="en-US" sz="1300">
                <a:latin typeface="Arial"/>
                <a:ea typeface="Arial"/>
                <a:cs typeface="Arial"/>
                <a:sym typeface="Arial"/>
              </a:rPr>
              <a:t>: The current design, as reflected in the UML diagrams, primarily focuses on core functions such as user registration, login, package purchasing with payment processing, lesson scheduling/reservation, and basic administrative reporting (e.g., monthly reports and invoices). It does not include advanced capabilities like real-time instructor availability calendars with conflict detection, automated reminders/notifications via SMS/email for upcoming lessons, vehicle fleet management, progress tracking for student driving skills, integration with external licensing authorities, or support for in-person vs. online theory lessons.</a:t>
            </a:r>
            <a:endParaRPr sz="1300">
              <a:latin typeface="Arial"/>
              <a:ea typeface="Arial"/>
              <a:cs typeface="Arial"/>
              <a:sym typeface="Arial"/>
            </a:endParaRPr>
          </a:p>
          <a:p>
            <a:pPr indent="-279400" lvl="0" marL="228600" rtl="0" algn="l">
              <a:lnSpc>
                <a:spcPct val="100000"/>
              </a:lnSpc>
              <a:spcBef>
                <a:spcPts val="0"/>
              </a:spcBef>
              <a:spcAft>
                <a:spcPts val="0"/>
              </a:spcAft>
              <a:buClr>
                <a:srgbClr val="000000"/>
              </a:buClr>
              <a:buSzPts val="2600"/>
              <a:buChar char="•"/>
            </a:pPr>
            <a:r>
              <a:rPr b="1" lang="en-US" sz="1300">
                <a:latin typeface="Arial"/>
                <a:ea typeface="Arial"/>
                <a:cs typeface="Arial"/>
                <a:sym typeface="Arial"/>
              </a:rPr>
              <a:t>No Support for Practical Driving Aspects</a:t>
            </a:r>
            <a:r>
              <a:rPr lang="en-US" sz="1300">
                <a:latin typeface="Arial"/>
                <a:ea typeface="Arial"/>
                <a:cs typeface="Arial"/>
                <a:sym typeface="Arial"/>
              </a:rPr>
              <a:t>: The system handles theoretical package selection, reservations (appointmentDate, instructorName, vehicle), and payments but lacks mechanisms for recording actual lesson outcomes, instructor feedback, student progress logs, or compliance with real-world driving test requirements, limiting its utility to administrative and booking tasks rather than full student training management.</a:t>
            </a:r>
            <a:endParaRPr sz="1300">
              <a:latin typeface="Arial"/>
              <a:ea typeface="Arial"/>
              <a:cs typeface="Arial"/>
              <a:sym typeface="Arial"/>
            </a:endParaRPr>
          </a:p>
          <a:p>
            <a:pPr indent="-279400" lvl="0" marL="228600" rtl="0" algn="l">
              <a:lnSpc>
                <a:spcPct val="100000"/>
              </a:lnSpc>
              <a:spcBef>
                <a:spcPts val="0"/>
              </a:spcBef>
              <a:spcAft>
                <a:spcPts val="0"/>
              </a:spcAft>
              <a:buClr>
                <a:srgbClr val="000000"/>
              </a:buClr>
              <a:buSzPts val="2600"/>
              <a:buChar char="•"/>
            </a:pPr>
            <a:r>
              <a:rPr b="1" lang="en-US" sz="1300">
                <a:latin typeface="Arial"/>
                <a:ea typeface="Arial"/>
                <a:cs typeface="Arial"/>
                <a:sym typeface="Arial"/>
              </a:rPr>
              <a:t>Dependency on External Payment Gateways</a:t>
            </a:r>
            <a:r>
              <a:rPr lang="en-US" sz="1300">
                <a:latin typeface="Arial"/>
                <a:ea typeface="Arial"/>
                <a:cs typeface="Arial"/>
                <a:sym typeface="Arial"/>
              </a:rPr>
              <a:t>: Payment processing relies on third-party integrations (as implied by the sequence diagram's transaction approval/decline logic), meaning the system is vulnerable to downtime, API changes, transaction fees, or service disruptions from providers like Stripe or PayPal, which could interrupt package purchases and revenue collection.</a:t>
            </a:r>
            <a:endParaRPr sz="1300">
              <a:latin typeface="Arial"/>
              <a:ea typeface="Arial"/>
              <a:cs typeface="Arial"/>
              <a:sym typeface="Arial"/>
            </a:endParaRPr>
          </a:p>
          <a:p>
            <a:pPr indent="-279400" lvl="0" marL="228600" rtl="0" algn="l">
              <a:lnSpc>
                <a:spcPct val="100000"/>
              </a:lnSpc>
              <a:spcBef>
                <a:spcPts val="0"/>
              </a:spcBef>
              <a:spcAft>
                <a:spcPts val="0"/>
              </a:spcAft>
              <a:buClr>
                <a:srgbClr val="000000"/>
              </a:buClr>
              <a:buSzPts val="2600"/>
              <a:buChar char="•"/>
            </a:pPr>
            <a:r>
              <a:rPr b="1" lang="en-US" sz="1300">
                <a:latin typeface="Arial"/>
                <a:ea typeface="Arial"/>
                <a:cs typeface="Arial"/>
                <a:sym typeface="Arial"/>
              </a:rPr>
              <a:t>Potential Scheduling Conflicts and Overbooking Risks</a:t>
            </a:r>
            <a:r>
              <a:rPr lang="en-US" sz="1300">
                <a:latin typeface="Arial"/>
                <a:ea typeface="Arial"/>
                <a:cs typeface="Arial"/>
                <a:sym typeface="Arial"/>
              </a:rPr>
              <a:t>: While the Class Diagram includes Driving Lesson Reservation with attributes like appointmentDate and instructorName, there is no explicit mechanism shown for real-time availability checks, instructor/vehicle assignment optimization, or prevention of double-bookings, which could lead to operational errors during high-demand periods.</a:t>
            </a:r>
            <a:endParaRPr sz="26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g3ca2551c8cf_0_7"/>
          <p:cNvSpPr/>
          <p:nvPr/>
        </p:nvSpPr>
        <p:spPr>
          <a:xfrm>
            <a:off x="1" y="0"/>
            <a:ext cx="60822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g3ca2551c8cf_0_7"/>
          <p:cNvSpPr/>
          <p:nvPr/>
        </p:nvSpPr>
        <p:spPr>
          <a:xfrm>
            <a:off x="1" y="0"/>
            <a:ext cx="12192000" cy="6858000"/>
          </a:xfrm>
          <a:prstGeom prst="rect">
            <a:avLst/>
          </a:prstGeom>
          <a:gradFill>
            <a:gsLst>
              <a:gs pos="0">
                <a:srgbClr val="3865B4"/>
              </a:gs>
              <a:gs pos="25000">
                <a:srgbClr val="3865B4"/>
              </a:gs>
              <a:gs pos="94000">
                <a:srgbClr val="3A3838"/>
              </a:gs>
              <a:gs pos="100000">
                <a:srgbClr val="3A3838"/>
              </a:gs>
            </a:gsLst>
            <a:lin ang="4199895"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50" name="Google Shape;150;g3ca2551c8cf_0_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 name="Google Shape;151;g3ca2551c8cf_0_7"/>
          <p:cNvSpPr txBox="1"/>
          <p:nvPr>
            <p:ph type="title"/>
          </p:nvPr>
        </p:nvSpPr>
        <p:spPr>
          <a:xfrm>
            <a:off x="640079" y="2053641"/>
            <a:ext cx="3669300" cy="2760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 (cont.)</a:t>
            </a:r>
            <a:endParaRPr>
              <a:solidFill>
                <a:schemeClr val="lt1"/>
              </a:solidFill>
            </a:endParaRPr>
          </a:p>
        </p:txBody>
      </p:sp>
      <p:sp>
        <p:nvSpPr>
          <p:cNvPr id="152" name="Google Shape;152;g3ca2551c8cf_0_7"/>
          <p:cNvSpPr txBox="1"/>
          <p:nvPr>
            <p:ph idx="1" type="body"/>
          </p:nvPr>
        </p:nvSpPr>
        <p:spPr>
          <a:xfrm>
            <a:off x="5928300" y="319825"/>
            <a:ext cx="5897100" cy="6248100"/>
          </a:xfrm>
          <a:prstGeom prst="rect">
            <a:avLst/>
          </a:prstGeom>
          <a:noFill/>
          <a:ln>
            <a:noFill/>
          </a:ln>
        </p:spPr>
        <p:txBody>
          <a:bodyPr anchorCtr="0" anchor="ctr" bIns="45700" lIns="91425" spcFirstLastPara="1" rIns="91425" wrap="square" tIns="45700">
            <a:noAutofit/>
          </a:bodyPr>
          <a:lstStyle/>
          <a:p>
            <a:pPr indent="-279400" lvl="0" marL="228600" rtl="0" algn="l">
              <a:lnSpc>
                <a:spcPct val="100000"/>
              </a:lnSpc>
              <a:spcBef>
                <a:spcPts val="0"/>
              </a:spcBef>
              <a:spcAft>
                <a:spcPts val="0"/>
              </a:spcAft>
              <a:buSzPts val="2600"/>
              <a:buChar char="•"/>
            </a:pPr>
            <a:r>
              <a:rPr b="1" lang="en-US" sz="1300">
                <a:latin typeface="Arial"/>
                <a:ea typeface="Arial"/>
                <a:cs typeface="Arial"/>
                <a:sym typeface="Arial"/>
              </a:rPr>
              <a:t>Scalability Constraints for Growth</a:t>
            </a:r>
            <a:r>
              <a:rPr lang="en-US" sz="1300">
                <a:latin typeface="Arial"/>
                <a:ea typeface="Arial"/>
                <a:cs typeface="Arial"/>
                <a:sym typeface="Arial"/>
              </a:rPr>
              <a:t>: The design assumes a standard client-server web architecture with basic database storage, but it may face performance bottlenecks with significantly increased concurrent users (e.g., beyond initial assumptions), seasonal enrollment spikes, or expansion to multiple school locations, as no advanced load balancing, caching, or distributed database features are detailed.</a:t>
            </a:r>
            <a:endParaRPr sz="1300">
              <a:latin typeface="Arial"/>
              <a:ea typeface="Arial"/>
              <a:cs typeface="Arial"/>
              <a:sym typeface="Arial"/>
            </a:endParaRPr>
          </a:p>
          <a:p>
            <a:pPr indent="-279400" lvl="0" marL="228600" rtl="0" algn="l">
              <a:lnSpc>
                <a:spcPct val="100000"/>
              </a:lnSpc>
              <a:spcBef>
                <a:spcPts val="0"/>
              </a:spcBef>
              <a:spcAft>
                <a:spcPts val="0"/>
              </a:spcAft>
              <a:buSzPts val="2600"/>
              <a:buChar char="•"/>
            </a:pPr>
            <a:r>
              <a:rPr b="1" lang="en-US" sz="1300">
                <a:latin typeface="Arial"/>
                <a:ea typeface="Arial"/>
                <a:cs typeface="Arial"/>
                <a:sym typeface="Arial"/>
              </a:rPr>
              <a:t>Lack of Mobile Optimization and Accessibility Features</a:t>
            </a:r>
            <a:r>
              <a:rPr lang="en-US" sz="1300">
                <a:latin typeface="Arial"/>
                <a:ea typeface="Arial"/>
                <a:cs typeface="Arial"/>
                <a:sym typeface="Arial"/>
              </a:rPr>
              <a:t>: Although web-based and accessible on mobile devices, the diagrams do not specify responsive design details or support for native mobile apps, push notifications, or accessibility accommodations (e.g., for visually impaired users), potentially reducing usability for students scheduling on smartphones.</a:t>
            </a:r>
            <a:endParaRPr sz="1300">
              <a:latin typeface="Arial"/>
              <a:ea typeface="Arial"/>
              <a:cs typeface="Arial"/>
              <a:sym typeface="Arial"/>
            </a:endParaRPr>
          </a:p>
          <a:p>
            <a:pPr indent="-279400" lvl="0" marL="228600" rtl="0" algn="l">
              <a:lnSpc>
                <a:spcPct val="100000"/>
              </a:lnSpc>
              <a:spcBef>
                <a:spcPts val="0"/>
              </a:spcBef>
              <a:spcAft>
                <a:spcPts val="0"/>
              </a:spcAft>
              <a:buSzPts val="2600"/>
              <a:buChar char="•"/>
            </a:pPr>
            <a:r>
              <a:rPr b="1" lang="en-US" sz="1300">
                <a:latin typeface="Arial"/>
                <a:ea typeface="Arial"/>
                <a:cs typeface="Arial"/>
                <a:sym typeface="Arial"/>
              </a:rPr>
              <a:t>Security and Compliance Dependencies</a:t>
            </a:r>
            <a:r>
              <a:rPr lang="en-US" sz="1300">
                <a:latin typeface="Arial"/>
                <a:ea typeface="Arial"/>
                <a:cs typeface="Arial"/>
                <a:sym typeface="Arial"/>
              </a:rPr>
              <a:t>: While basic security measures (encryption, RBAC) are addressed, the system does not inherently include advanced protections like multi-factor authentication (beyond password), automatic vulnerability scanning, detailed audit trails for all actions, or built-in GDPR/PCI DSS compliance tools, relying on infrastructure and third-party services to fully mitigate risks.</a:t>
            </a:r>
            <a:endParaRPr sz="1300">
              <a:latin typeface="Arial"/>
              <a:ea typeface="Arial"/>
              <a:cs typeface="Arial"/>
              <a:sym typeface="Arial"/>
            </a:endParaRPr>
          </a:p>
          <a:p>
            <a:pPr indent="-279400" lvl="0" marL="228600" rtl="0" algn="l">
              <a:lnSpc>
                <a:spcPct val="100000"/>
              </a:lnSpc>
              <a:spcBef>
                <a:spcPts val="0"/>
              </a:spcBef>
              <a:spcAft>
                <a:spcPts val="0"/>
              </a:spcAft>
              <a:buSzPts val="2600"/>
              <a:buChar char="•"/>
            </a:pPr>
            <a:r>
              <a:rPr b="1" lang="en-US" sz="1300">
                <a:latin typeface="Arial"/>
                <a:ea typeface="Arial"/>
                <a:cs typeface="Arial"/>
                <a:sym typeface="Arial"/>
              </a:rPr>
              <a:t>No Offline Functionality</a:t>
            </a:r>
            <a:r>
              <a:rPr lang="en-US" sz="1300">
                <a:latin typeface="Arial"/>
                <a:ea typeface="Arial"/>
                <a:cs typeface="Arial"/>
                <a:sym typeface="Arial"/>
              </a:rPr>
              <a:t>: As a web-based system requiring internet connectivity for login, scheduling, payments, and reporting, it cannot support offline access or operations (e.g., instructors viewing schedules in low-connectivity areas), limiting flexibility in certain scenarios.</a:t>
            </a:r>
            <a:endParaRPr b="1" sz="14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2019-10-14T02:36:52Z</dcterms:created>
  <dc:creator>Loay Alnaji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